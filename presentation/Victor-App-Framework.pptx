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95728"/>
            <a:ext cx="2011680" cy="4445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3C5FD"/>
                </a:solidFill>
                <a:latin typeface="Calibri"/>
              </a:rPr>
              <a:t>COSMOPOLE  ·  ELPIAN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600" b="1" i="0">
                <a:solidFill>
                  <a:srgbClr val="FFFFFF"/>
                </a:solidFill>
                <a:latin typeface="Georgia"/>
              </a:rPr>
              <a:t>VICTOR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Georgia"/>
              </a:rPr>
              <a:t>A Prompt-Defined Programming Language and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Georgia"/>
              </a:rPr>
              <a:t>a Multi-Modal, Cross-Interface Application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D8E2F0"/>
                </a:solidFill>
                <a:latin typeface="Calibri"/>
              </a:rPr>
              <a:t>From natural-language behaviour descriptions to platform-native executables: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93C5FD"/>
                </a:solidFill>
                <a:latin typeface="Calibri"/>
              </a:rPr>
              <a:t>modules · behaviours · views &amp; actors · the Elpian bytecode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D8E2F0"/>
                </a:solidFill>
                <a:latin typeface="Calibri"/>
              </a:rPr>
              <a:t>Cosmopole Research — github.com/cosmopole-org/victor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D8E2F0"/>
                </a:solidFill>
                <a:latin typeface="Calibri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1.  Motivation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why fixed syntax and per-platform UIs no longer scale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2.  The Victor programming model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modules, behaviours, entrypoint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3.  A language without fixed syntax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human-language pseudo-code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4.  Compilation pipeline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prompts → operation families → AST → bytecode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5.  The Elpian VM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a no-JIT, governed execution substrate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3949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6.  Interface abstraction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views and actors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7.  Multi-modal builds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CLI, voice, GUI, AR/VR from one definition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8.  Implementation status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what runs today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9.  Case study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  —  VICTOR: CITY STRIKE (3D game on the VM)</a:t>
            </a:r>
          </a:p>
          <a:p>
            <a:pPr algn="l">
              <a:lnSpc>
                <a:spcPct val="105000"/>
              </a:lnSpc>
              <a:spcAft>
                <a:spcPts val="22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10. Related work, roadmap and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Motivation: three couplings that limit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82296" cy="237744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7465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Logic ⟷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30552"/>
            <a:ext cx="3200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Programs must be expressed in a fixed grammar; the developer translates intent into syntax by hand.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The abstraction ceiling is the language, not the problem.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Victor: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behaviour is written as structured natural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82296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17465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Logic ⟷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130552"/>
            <a:ext cx="3200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UI code is written per modality: a GUI, a CLI, a voice skill and an AR scene are four codebases.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Interaction assumptions leak into core logic.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0F766E"/>
                </a:solidFill>
                <a:latin typeface="Calibri"/>
              </a:rPr>
              <a:t>Victor: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interfaces are derived from abstract views and actors.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657600" cy="2377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00200"/>
            <a:ext cx="82296" cy="237744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7465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Logic ⟷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130552"/>
            <a:ext cx="32004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Each target (iOS, web, desktop, game engine) imposes its own toolchain and update rules (e.g. no JIT on iOS).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Shipping one behaviour everywhere multiplies engineering cost.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B45A09"/>
                </a:solidFill>
                <a:latin typeface="Calibri"/>
              </a:rPr>
              <a:t>Victor: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one bytecode, executed by the Elpian VM on every target.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11247120" cy="1783080"/>
          </a:xfrm>
          <a:prstGeom prst="roundRect">
            <a:avLst>
              <a:gd name="adj" fmla="val 8000"/>
            </a:avLst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07408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93C5FD"/>
                </a:solidFill>
                <a:latin typeface="Calibri"/>
              </a:rPr>
              <a:t>Thesis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 i="0">
                <a:solidFill>
                  <a:srgbClr val="D8E2F0"/>
                </a:solidFill>
                <a:latin typeface="Calibri"/>
              </a:rPr>
              <a:t>An application is fully specified by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what its modules do</a:t>
            </a:r>
            <a:r>
              <a:rPr sz="1650" b="0" i="0">
                <a:solidFill>
                  <a:srgbClr val="D8E2F0"/>
                </a:solidFill>
                <a:latin typeface="Calibri"/>
              </a:rPr>
              <a:t> (behaviours),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how they can be interacted with</a:t>
            </a:r>
            <a:r>
              <a:rPr sz="1650" b="0" i="0">
                <a:solidFill>
                  <a:srgbClr val="D8E2F0"/>
                </a:solidFill>
                <a:latin typeface="Calibri"/>
              </a:rPr>
              <a:t> (abstract inputs/outputs), and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where execution starts</a:t>
            </a:r>
            <a:r>
              <a:rPr sz="1650" b="0" i="0">
                <a:solidFill>
                  <a:srgbClr val="D8E2F0"/>
                </a:solidFill>
                <a:latin typeface="Calibri"/>
              </a:rPr>
              <a:t> (the entrypoint). Everything else — syntax, widgets, voice grammars, AR geometry, platform binaries — can be derived mechanically.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2 · PROGRAMMING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The Victor programming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3B475E"/>
                </a:solidFill>
                <a:latin typeface="Calibri"/>
              </a:rPr>
              <a:t>A Victor program is a set of </a:t>
            </a:r>
            <a:r>
              <a:rPr sz="1600" b="1" i="0">
                <a:solidFill>
                  <a:srgbClr val="1D4ED8"/>
                </a:solidFill>
                <a:latin typeface="Calibri"/>
              </a:rPr>
              <a:t>modules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, each defined entirely by prompts. The developer decomposes the application, then describes each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82296" cy="288036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037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① Module decomposition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8775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The application is split into cohesive modules (e.g. cart, inventory, checkout).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Internal modules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 carry pure logic and state.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Edge modules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 own user-facing input/output and are interface-adapted per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5740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57400"/>
            <a:ext cx="82296" cy="2880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2037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② Behaviour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58775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Each module carries a prompt that explains: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· behaviour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 — what the module does, step by step;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· contract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 — the inputs it accepts and the outputs it produces for each behaviour.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Interconnections between modules are declared alongside the behaviours.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57400"/>
            <a:ext cx="3611880" cy="2880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57400"/>
            <a:ext cx="82296" cy="288036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2037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③ Entrypoint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87752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The developer designates the entry module/behaviour where execution begins.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From there, the compiler resolves the module graph, type-checks the contracts and schedules the program.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6636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5838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1" i="0">
                <a:solidFill>
                  <a:srgbClr val="1D4ED8"/>
                </a:solidFill>
                <a:latin typeface="Calibri"/>
              </a:rPr>
              <a:t>Key property — consumer-aware outputs: </a:t>
            </a:r>
            <a:r>
              <a:rPr sz="1450" b="0" i="0">
                <a:solidFill>
                  <a:srgbClr val="3B475E"/>
                </a:solidFill>
                <a:latin typeface="Calibri"/>
              </a:rPr>
              <a:t>a module's output is not fixed at authoring time. The framework detects the consumer of each behaviour — a human on a screen, a voice channel, a terminal, an AR scene, or another module — and materialises the output in the form that consumer requires.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3 · LANGUAGE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A language without fixed syntax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0" i="0">
                <a:solidFill>
                  <a:srgbClr val="3B475E"/>
                </a:solidFill>
                <a:latin typeface="Calibri"/>
              </a:rPr>
              <a:t>Victor programs are </a:t>
            </a:r>
            <a:r>
              <a:rPr sz="1550" b="1" i="0">
                <a:solidFill>
                  <a:srgbClr val="1D4ED8"/>
                </a:solidFill>
                <a:latin typeface="Calibri"/>
              </a:rPr>
              <a:t>structured natural language</a:t>
            </a:r>
            <a:r>
              <a:rPr sz="1550" b="0" i="0">
                <a:solidFill>
                  <a:srgbClr val="3B475E"/>
                </a:solidFill>
                <a:latin typeface="Calibri"/>
              </a:rPr>
              <a:t>: numbered steps of human-readable pseudo-code. The wording is free; only the </a:t>
            </a:r>
            <a:r>
              <a:rPr sz="1550" b="0" i="1">
                <a:solidFill>
                  <a:srgbClr val="3B475E"/>
                </a:solidFill>
                <a:latin typeface="Calibri"/>
              </a:rPr>
              <a:t>intent</a:t>
            </a:r>
            <a:r>
              <a:rPr sz="1550" b="0" i="0">
                <a:solidFill>
                  <a:srgbClr val="3B475E"/>
                </a:solidFill>
                <a:latin typeface="Calibri"/>
              </a:rPr>
              <a:t> must be recoverable.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62133"/>
                </a:solidFill>
                <a:latin typeface="Calibri"/>
              </a:rPr>
              <a:t>Dynamic, flexible surface form</a:t>
            </a:r>
            <a:r>
              <a:rPr sz="1450" b="0" i="0">
                <a:solidFill>
                  <a:srgbClr val="3B475E"/>
                </a:solidFill>
                <a:latin typeface="Calibri"/>
              </a:rPr>
              <a:t> — “define @a as 0”, “memorize 0 as @a” and “create a counter @a starting at zero” compile identically.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62133"/>
                </a:solidFill>
                <a:latin typeface="Calibri"/>
              </a:rPr>
              <a:t>Steps, not statements</a:t>
            </a:r>
            <a:r>
              <a:rPr sz="1450" b="0" i="0">
                <a:solidFill>
                  <a:srgbClr val="3B475E"/>
                </a:solidFill>
                <a:latin typeface="Calibri"/>
              </a:rPr>
              <a:t> — control flow references step numbers (“if …, go to step 5”), mirroring the stack-based instruction list underneath.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62133"/>
                </a:solidFill>
                <a:latin typeface="Calibri"/>
              </a:rPr>
              <a:t>Sub-steps</a:t>
            </a:r>
            <a:r>
              <a:rPr sz="1450" b="0" i="0">
                <a:solidFill>
                  <a:srgbClr val="3B475E"/>
                </a:solidFill>
                <a:latin typeface="Calibri"/>
              </a:rPr>
              <a:t> — parenthesised operations split into sub-steps; independent ones may be scheduled in parallel.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2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162133"/>
                </a:solidFill>
                <a:latin typeface="Calibri"/>
              </a:rPr>
              <a:t>Deterministic core</a:t>
            </a:r>
            <a:r>
              <a:rPr sz="1450" b="0" i="0">
                <a:solidFill>
                  <a:srgbClr val="3B475E"/>
                </a:solidFill>
                <a:latin typeface="Calibri"/>
              </a:rPr>
              <a:t> — every step is normalised into one of a closed set of operation families (next slide), so execution semantics stay exact.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623560" cy="4572000"/>
          </a:xfrm>
          <a:prstGeom prst="roundRect">
            <a:avLst>
              <a:gd name="adj" fmla="val 8000"/>
            </a:avLst>
          </a:prstGeom>
          <a:solidFill>
            <a:srgbClr val="1E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82496"/>
            <a:ext cx="5166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93C5FD"/>
                </a:solidFill>
                <a:latin typeface="Consolas"/>
              </a:rPr>
              <a:t>a Victor source program (pending-work/prompts/type_checker.prm)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75104"/>
            <a:ext cx="5166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program [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B45A09"/>
                </a:solidFill>
                <a:latin typeface="Consolas"/>
              </a:rPr>
              <a:t>  step 1. </a:t>
            </a:r>
            <a:r>
              <a:rPr sz="1250" b="0" i="0">
                <a:solidFill>
                  <a:srgbClr val="D8E2F0"/>
                </a:solidFill>
                <a:latin typeface="Consolas"/>
              </a:rPr>
              <a:t>function sum for inputs (operand1, operand2) [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B45A09"/>
                </a:solidFill>
                <a:latin typeface="Consolas"/>
              </a:rPr>
              <a:t>    step 1. </a:t>
            </a:r>
            <a:r>
              <a:rPr sz="1250" b="0" i="0">
                <a:solidFill>
                  <a:srgbClr val="D8E2F0"/>
                </a:solidFill>
                <a:latin typeface="Consolas"/>
              </a:rPr>
              <a:t>define a new variable and name it @a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         with initial value 0.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B45A09"/>
                </a:solidFill>
                <a:latin typeface="Consolas"/>
              </a:rPr>
              <a:t>    step 2. </a:t>
            </a:r>
            <a:r>
              <a:rPr sz="1250" b="0" i="0">
                <a:solidFill>
                  <a:srgbClr val="D8E2F0"/>
                </a:solidFill>
                <a:latin typeface="Consolas"/>
              </a:rPr>
              <a:t>calculate operand1 + operand2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         and assign it to @a.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B45A09"/>
                </a:solidFill>
                <a:latin typeface="Consolas"/>
              </a:rPr>
              <a:t>    step 3. </a:t>
            </a:r>
            <a:r>
              <a:rPr sz="1250" b="0" i="0">
                <a:solidFill>
                  <a:srgbClr val="D8E2F0"/>
                </a:solidFill>
                <a:latin typeface="Consolas"/>
              </a:rPr>
              <a:t>return the value of @a.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]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B45A09"/>
                </a:solidFill>
                <a:latin typeface="Consolas"/>
              </a:rPr>
              <a:t>  step 2. </a:t>
            </a:r>
            <a:r>
              <a:rPr sz="1250" b="0" i="0">
                <a:solidFill>
                  <a:srgbClr val="D8E2F0"/>
                </a:solidFill>
                <a:latin typeface="Consolas"/>
              </a:rPr>
              <a:t>do the sum function on 2 and 3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       and assign the result to @b.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B45A09"/>
                </a:solidFill>
                <a:latin typeface="Consolas"/>
              </a:rPr>
              <a:t>  step 3. </a:t>
            </a:r>
            <a:r>
              <a:rPr sz="1250" b="0" i="0">
                <a:solidFill>
                  <a:srgbClr val="D8E2F0"/>
                </a:solidFill>
                <a:latin typeface="Consolas"/>
              </a:rPr>
              <a:t>call host to println variable @b.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]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8A99B5"/>
                </a:solidFill>
                <a:latin typeface="Consolas"/>
              </a:rPr>
              <a:t>// same program, different words — same AST: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8A99B5"/>
                </a:solidFill>
                <a:latin typeface="Consolas"/>
              </a:rPr>
              <a:t>//   "memorize zero as @a"  ≡  "define @a = 0"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4 · COMPILATION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Normalisation: nine operation families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3B475E"/>
                </a:solidFill>
                <a:latin typeface="Calibri"/>
              </a:rPr>
              <a:t>A classifier system-prompt assigns every step to one </a:t>
            </a:r>
            <a:r>
              <a:rPr sz="1500" b="1" i="0">
                <a:solidFill>
                  <a:srgbClr val="1D4ED8"/>
                </a:solidFill>
                <a:latin typeface="Calibri"/>
              </a:rPr>
              <a:t>operation family</a:t>
            </a:r>
            <a:r>
              <a:rPr sz="1500" b="0" i="0">
                <a:solidFill>
                  <a:srgbClr val="3B475E"/>
                </a:solidFill>
                <a:latin typeface="Calibri"/>
              </a:rPr>
              <a:t>; a family-specific extractor prompt then populates that family's template AST object (JSON).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48840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1 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59736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introduce new data in memory — “define @count with initial value 0”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057400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2148840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2  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459736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update an existing variable — “update @x's value to y”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2057400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148840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3  calculation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459736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arithmetic / expression trees — “calculate (x + 1) ^ 2”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82696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74136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4  functionDefinition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85032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declare a callable body of steps with parameters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3282696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8848" y="3374136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5  conditionalBranch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685032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test a condition; jump to true/false step numbers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282696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3374136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6  jumpOperation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3685032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unconditional jump to a step in the same scope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07992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599432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7  returnOperation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910328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return a value from the current function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6" y="4507992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98848" y="4599432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8  functionCall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910328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invoke a previously defined function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4507992"/>
            <a:ext cx="3685032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4599432"/>
            <a:ext cx="33558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D4ED8"/>
                </a:solidFill>
                <a:latin typeface="Consolas"/>
              </a:rPr>
              <a:t>9  host_call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4910328"/>
            <a:ext cx="33558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1200" b="0" i="0">
                <a:solidFill>
                  <a:srgbClr val="3B475E"/>
                </a:solidFill>
                <a:latin typeface="Calibri"/>
              </a:rPr>
              <a:t>ask the host environment — println, getInput, initApp, 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806440"/>
            <a:ext cx="11247120" cy="566928"/>
          </a:xfrm>
          <a:prstGeom prst="roundRect">
            <a:avLst>
              <a:gd name="adj" fmla="val 8000"/>
            </a:avLst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91616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D8E2F0"/>
                </a:solidFill>
                <a:latin typeface="Calibri"/>
              </a:rPr>
              <a:t>Values share one </a:t>
            </a:r>
            <a:r>
              <a:rPr sz="1350" b="1" i="0">
                <a:solidFill>
                  <a:srgbClr val="93C5FD"/>
                </a:solidFill>
                <a:latin typeface="Consolas"/>
              </a:rPr>
              <a:t>Val</a:t>
            </a:r>
            <a:r>
              <a:rPr sz="1350" b="0" i="0">
                <a:solidFill>
                  <a:srgbClr val="D8E2F0"/>
                </a:solidFill>
                <a:latin typeface="Calibri"/>
              </a:rPr>
              <a:t> structure: i16 / i32 / i64 · f32 / f64 · bool · string · object · array · function · identifier — matching the Elpian VM's tagged value model exactly.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4 · COMPILATION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Compilation pipeline: prose to executable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" y="1600200"/>
            <a:ext cx="1821180" cy="960120"/>
          </a:xfrm>
          <a:prstGeom prst="homePlat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sp>
        <p:nvSpPr>
          <p:cNvPr id="8" name="Chevron 7"/>
          <p:cNvSpPr/>
          <p:nvPr/>
        </p:nvSpPr>
        <p:spPr>
          <a:xfrm>
            <a:off x="2397252" y="1600200"/>
            <a:ext cx="1821180" cy="9601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9" name="Chevron 8"/>
          <p:cNvSpPr/>
          <p:nvPr/>
        </p:nvSpPr>
        <p:spPr>
          <a:xfrm>
            <a:off x="4291584" y="1600200"/>
            <a:ext cx="1821180" cy="960120"/>
          </a:xfrm>
          <a:prstGeom prst="chevron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AST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(JSON)</a:t>
            </a:r>
          </a:p>
        </p:txBody>
      </p:sp>
      <p:sp>
        <p:nvSpPr>
          <p:cNvPr id="10" name="Chevron 9"/>
          <p:cNvSpPr/>
          <p:nvPr/>
        </p:nvSpPr>
        <p:spPr>
          <a:xfrm>
            <a:off x="6185916" y="1600200"/>
            <a:ext cx="1821180" cy="9601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Program</a:t>
            </a:r>
          </a:p>
        </p:txBody>
      </p:sp>
      <p:sp>
        <p:nvSpPr>
          <p:cNvPr id="11" name="Chevron 10"/>
          <p:cNvSpPr/>
          <p:nvPr/>
        </p:nvSpPr>
        <p:spPr>
          <a:xfrm>
            <a:off x="8080248" y="1600200"/>
            <a:ext cx="1821180" cy="960120"/>
          </a:xfrm>
          <a:prstGeom prst="chevron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Bytecode</a:t>
            </a:r>
          </a:p>
        </p:txBody>
      </p:sp>
      <p:sp>
        <p:nvSpPr>
          <p:cNvPr id="12" name="Chevron 11"/>
          <p:cNvSpPr/>
          <p:nvPr/>
        </p:nvSpPr>
        <p:spPr>
          <a:xfrm>
            <a:off x="9974580" y="1600200"/>
            <a:ext cx="1821180" cy="9601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82296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1 ·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56432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Each step of every module prompt is classified by a system prompt into one of the nine operation families (assignment, arithmetic, function definition, …).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926080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82296" cy="14173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3072384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2 · Template population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3456432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A per-family extractor prompt pulls the operands, names and step targets out of the description and writes them into the prepared JSON AST template's fields.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07992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507992"/>
            <a:ext cx="82296" cy="141732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65429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3 · Program assembly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38344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Populated AST objects are pushed, in order, onto the program's stack-based instruction list; modules are linked through their declared interconnections and the entrypoint.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507992"/>
            <a:ext cx="5532120" cy="141732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507992"/>
            <a:ext cx="82296" cy="141732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65429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4 · Compile &amp; 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5038344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The final AST is handed to the Elpian compiler, lowered to bytecode, and executed by the Elpian VM inside the target environment (terminal, browser, mobile shell, 3D engine, …).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53328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3B475E"/>
                </a:solidFill>
                <a:latin typeface="Calibri"/>
              </a:rPr>
              <a:t>The same pipeline runs once per </a:t>
            </a:r>
            <a:r>
              <a:rPr sz="1350" b="1" i="0">
                <a:solidFill>
                  <a:srgbClr val="1D4ED8"/>
                </a:solidFill>
                <a:latin typeface="Calibri"/>
              </a:rPr>
              <a:t>build type</a:t>
            </a:r>
            <a:r>
              <a:rPr sz="1350" b="0" i="0">
                <a:solidFill>
                  <a:srgbClr val="3B475E"/>
                </a:solidFill>
                <a:latin typeface="Calibri"/>
              </a:rPr>
              <a:t> — each declaring the target environment's accessibility features (available input/output devices) — so one source produces many platform-specific executables.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5 · ELPIAN 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The execution substrate: the Elpian VM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3B475E"/>
                </a:solidFill>
                <a:latin typeface="Calibri"/>
              </a:rPr>
              <a:t>A </a:t>
            </a:r>
            <a:r>
              <a:rPr sz="1500" b="1" i="0">
                <a:solidFill>
                  <a:srgbClr val="1D4ED8"/>
                </a:solidFill>
                <a:latin typeface="Calibri"/>
              </a:rPr>
              <a:t>pausing bytecode interpreter</a:t>
            </a:r>
            <a:r>
              <a:rPr sz="1500" b="0" i="0">
                <a:solidFill>
                  <a:srgbClr val="3B475E"/>
                </a:solidFill>
                <a:latin typeface="Calibri"/>
              </a:rPr>
              <a:t> — no JIT, no machine-code generation — designed for places dynamic code is otherwise forbidden.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6692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App-Store-legal &amp; web-ready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— never writes executable memory (no W^X violation); compiles to wasm32 and native.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One host seam: </a:t>
            </a:r>
            <a:r>
              <a:rPr sz="1400" b="0" i="0">
                <a:solidFill>
                  <a:srgbClr val="0F766E"/>
                </a:solidFill>
                <a:latin typeface="Consolas"/>
              </a:rPr>
              <a:t>askHost(api, payload)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— the VM suspends and hands every environment effect to the embedder; this is where Victor's interface adaptation plugs in.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Governed by construction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— capability families (Gpu, Network, Storage, Clock, Randomness, …), instruction/memory/call-depth limits, resource meters that fail closed.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Signed code delivery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— SHA-256/HMAC verify-before-load with downgrade protection: behaviour updates ship as data, safely.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Multi-VM trees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— a VM can spawn sandboxed child VMs (module isolation); permissions AND down the ancestor path, budgets aggregate over subtrees.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5166360" cy="3310128"/>
          </a:xfrm>
          <a:prstGeom prst="roundRect">
            <a:avLst>
              <a:gd name="adj" fmla="val 8000"/>
            </a:avLst>
          </a:prstGeom>
          <a:solidFill>
            <a:srgbClr val="1E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82496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93C5FD"/>
                </a:solidFill>
                <a:latin typeface="Consolas"/>
              </a:rPr>
              <a:t>execution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75104"/>
            <a:ext cx="4709160" cy="2761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93C5FD"/>
                </a:solidFill>
                <a:latin typeface="Consolas"/>
              </a:rPr>
              <a:t>[ Victor modules — bytecode ]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     |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     v  runs 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93C5FD"/>
                </a:solidFill>
                <a:latin typeface="Consolas"/>
              </a:rPr>
              <a:t>[ Elpian VM ]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- stack machine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- tagged Vals (i16 ... f64)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- capability governor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     |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B45A09"/>
                </a:solidFill>
                <a:latin typeface="Consolas"/>
              </a:rPr>
              <a:t>        v  askHost(api, payload)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93C5FD"/>
                </a:solidFill>
                <a:latin typeface="Consolas"/>
              </a:rPr>
              <a:t>[ Host bridges — per target ]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terminal | Flutter/Skia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CanvasKit (web) | Godot 3D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010912"/>
            <a:ext cx="5166360" cy="120700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5138928"/>
            <a:ext cx="4663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62133"/>
                </a:solidFill>
                <a:latin typeface="Calibri"/>
              </a:rPr>
              <a:t>Front-ends already target it: 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i="0">
                <a:solidFill>
                  <a:srgbClr val="1D4ED8"/>
                </a:solidFill>
                <a:latin typeface="Consolas"/>
              </a:rPr>
              <a:t>js2elpian</a:t>
            </a:r>
            <a:r>
              <a:rPr sz="1300" b="0" i="0">
                <a:solidFill>
                  <a:srgbClr val="3B475E"/>
                </a:solidFill>
                <a:latin typeface="Calibri"/>
              </a:rPr>
              <a:t> and </a:t>
            </a:r>
            <a:r>
              <a:rPr sz="1300" b="0" i="0">
                <a:solidFill>
                  <a:srgbClr val="1D4ED8"/>
                </a:solidFill>
                <a:latin typeface="Consolas"/>
              </a:rPr>
              <a:t>dart2elpian</a:t>
            </a:r>
            <a:r>
              <a:rPr sz="1300" b="0" i="0">
                <a:solidFill>
                  <a:srgbClr val="3B475E"/>
                </a:solidFill>
                <a:latin typeface="Calibri"/>
              </a:rPr>
              <a:t> compile JS / a Dart subset to the same bytecode — Victor's prompt front-end is the third, syntax-free front-end.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6 · VIEWS &amp; 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Interface abstraction: views and 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3B475E"/>
                </a:solidFill>
                <a:latin typeface="Calibri"/>
              </a:rPr>
              <a:t>An edge module describes its interface as a </a:t>
            </a:r>
            <a:r>
              <a:rPr sz="1500" b="1" i="0">
                <a:solidFill>
                  <a:srgbClr val="1D4ED8"/>
                </a:solidFill>
                <a:latin typeface="Calibri"/>
              </a:rPr>
              <a:t>hierarchical XML/JSON tree</a:t>
            </a:r>
            <a:r>
              <a:rPr sz="1500" b="0" i="0">
                <a:solidFill>
                  <a:srgbClr val="3B475E"/>
                </a:solidFill>
                <a:latin typeface="Calibri"/>
              </a:rPr>
              <a:t>. Every node is one of two abstract types, each carrying a behaviour prompt — never a concrete widget.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82296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579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view — non-interactive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542032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Shows data from the app's backbone logic or its data store, as the target modality allows: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1">
                <a:solidFill>
                  <a:srgbClr val="162133"/>
                </a:solidFill>
                <a:latin typeface="Calibri"/>
              </a:rPr>
              <a:t>text · typography · image · chart · a spoken description · a spinning 3D cube · a JSON payload readable by another module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82296" cy="201168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1579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actor — interactive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42032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Accepts interactions from an interactor — a human or another module: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1">
                <a:solidFill>
                  <a:srgbClr val="162133"/>
                </a:solidFill>
                <a:latin typeface="Calibri"/>
              </a:rPr>
              <a:t>button · checkbox · text field · a question awaiting a voice command · a key press · an AR gesture · a JSON message from a peer module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11247120" cy="2148840"/>
          </a:xfrm>
          <a:prstGeom prst="roundRect">
            <a:avLst>
              <a:gd name="adj" fmla="val 8000"/>
            </a:avLst>
          </a:prstGeom>
          <a:solidFill>
            <a:srgbClr val="1E2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34256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93C5FD"/>
                </a:solidFill>
                <a:latin typeface="Consolas"/>
              </a:rPr>
              <a:t>abstract interface tree (authored once, adapted per modality)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26864"/>
            <a:ext cx="1078992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{ "module": "checkout",  "interface": {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  "type": "view",  "prompt": "show the running order total from the cart store",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D8E2F0"/>
                </a:solidFill>
                <a:latin typeface="Consolas"/>
              </a:rPr>
              <a:t>    "children": [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93C5FD"/>
                </a:solidFill>
                <a:latin typeface="Consolas"/>
              </a:rPr>
              <a:t>      { "type": "view",  "prompt": "list each cart item with its price" },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FCD34D"/>
                </a:solidFill>
                <a:latin typeface="Consolas"/>
              </a:rPr>
              <a:t>      { "type": "actor", "prompt": "let the interactor confirm the purchase" },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0" i="0">
                <a:solidFill>
                  <a:srgbClr val="FCD34D"/>
                </a:solidFill>
                <a:latin typeface="Consolas"/>
              </a:rPr>
              <a:t>      { "type": "actor", "prompt": "let the interactor change an item's quantity" } ] }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7 · MULTI-MODAL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One definition, every modality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3B475E"/>
                </a:solidFill>
                <a:latin typeface="Calibri"/>
              </a:rPr>
              <a:t>Per build type, the compiler scans the </a:t>
            </a:r>
            <a:r>
              <a:rPr sz="1500" b="1" i="0">
                <a:solidFill>
                  <a:srgbClr val="1D4ED8"/>
                </a:solidFill>
                <a:latin typeface="Calibri"/>
              </a:rPr>
              <a:t>edge modules</a:t>
            </a:r>
            <a:r>
              <a:rPr sz="1500" b="0" i="0">
                <a:solidFill>
                  <a:srgbClr val="3B475E"/>
                </a:solidFill>
                <a:latin typeface="Calibri"/>
              </a:rPr>
              <a:t> and adapts each view/actor to the declared I/O devices of the target environment: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301752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Target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103120"/>
            <a:ext cx="429768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1671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views become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103120"/>
            <a:ext cx="393192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16712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actors become 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301752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6032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Terminal / CLI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487168"/>
            <a:ext cx="429768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560320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formatted text, tables, ASCII charts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87168"/>
            <a:ext cx="393192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256032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flags, prompts, key presses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35808"/>
            <a:ext cx="3017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0896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Voice / vocal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3035808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108960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spoken descriptions, earcons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035808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10896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voice commands, spoken answers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84448"/>
            <a:ext cx="301752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5760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GUI (desktop &amp; mobile)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3584448"/>
            <a:ext cx="429768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657600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typography, images, charts, dashboards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584448"/>
            <a:ext cx="393192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365760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buttons, checkboxes, text fields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33088"/>
            <a:ext cx="3017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20624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AR / VR floating interfaces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4133088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4206240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3D objects, spatial panels, animated meshes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4133088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420624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gestures, gaze, controller input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681728"/>
            <a:ext cx="301752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75488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3D / game environments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4681728"/>
            <a:ext cx="429768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4754880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in-world HUDs, objects (e.g. a spinning cube)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4681728"/>
            <a:ext cx="3931920" cy="548640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475488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in-world interactions, touch controls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230368"/>
            <a:ext cx="3017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303520"/>
            <a:ext cx="2743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Module-to-module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5230368"/>
            <a:ext cx="4297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320" y="5303520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machine-readable JSON payloads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63840" y="5230368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01000" y="5303520"/>
            <a:ext cx="3657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JSON messages received from peers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98932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D4ED8"/>
                </a:solidFill>
                <a:latin typeface="Calibri"/>
              </a:rPr>
              <a:t>The interactor need not be human: </a:t>
            </a:r>
            <a:r>
              <a:rPr sz="1350" b="0" i="0">
                <a:solidFill>
                  <a:srgbClr val="3B475E"/>
                </a:solidFill>
                <a:latin typeface="Calibri"/>
              </a:rPr>
              <a:t>when a behaviour's consumer is another module, the same view/actor pair degrades to a typed JSON contract — UI and IPC are one abstraction.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7 · MULTI-MODAL BUILDS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291840" cy="4480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D4ED8"/>
                </a:solidFill>
                <a:latin typeface="Calibri"/>
              </a:rPr>
              <a:t>AUTHORING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03120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62133"/>
                </a:solidFill>
                <a:latin typeface="Calibri"/>
              </a:rPr>
              <a:t>module A — behaviour prompt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35808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45536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62133"/>
                </a:solidFill>
                <a:latin typeface="Calibri"/>
              </a:rPr>
              <a:t>module B — behaviour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68496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78224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62133"/>
                </a:solidFill>
                <a:latin typeface="Calibri"/>
              </a:rPr>
              <a:t>edge module — view/actor tree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01184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10912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162133"/>
                </a:solidFill>
                <a:latin typeface="Calibri"/>
              </a:rPr>
              <a:t>entrypoint declaration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554480"/>
            <a:ext cx="3291840" cy="4480560"/>
          </a:xfrm>
          <a:prstGeom prst="roundRect">
            <a:avLst>
              <a:gd name="adj" fmla="val 8000"/>
            </a:avLst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916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93C5FD"/>
                </a:solidFill>
                <a:latin typeface="Calibri"/>
              </a:rPr>
              <a:t>VICTOR COMPILER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103120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24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21284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D8E2F0"/>
                </a:solidFill>
                <a:latin typeface="Calibri"/>
              </a:rPr>
              <a:t>classify → 9 operation families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035808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24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145536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D8E2F0"/>
                </a:solidFill>
                <a:latin typeface="Calibri"/>
              </a:rPr>
              <a:t>populate template AST (JSON)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968496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24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4078224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D8E2F0"/>
                </a:solidFill>
                <a:latin typeface="Calibri"/>
              </a:rPr>
              <a:t>assemble instruction list + link modules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901184"/>
            <a:ext cx="2834640" cy="768096"/>
          </a:xfrm>
          <a:prstGeom prst="roundRect">
            <a:avLst>
              <a:gd name="adj" fmla="val 8000"/>
            </a:avLst>
          </a:prstGeom>
          <a:solidFill>
            <a:srgbClr val="24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5010912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D8E2F0"/>
                </a:solidFill>
                <a:latin typeface="Calibri"/>
              </a:rPr>
              <a:t>Elpian compiler → bytecode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554480"/>
            <a:ext cx="3520440" cy="4480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6916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45A09"/>
                </a:solidFill>
                <a:latin typeface="Calibri"/>
              </a:rPr>
              <a:t>BUILD TYPES → TARGETS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2103120"/>
            <a:ext cx="30632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219456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CLI build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terminal I/O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66760" y="3035808"/>
            <a:ext cx="30632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3127248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Voice build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speech in/out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3968496"/>
            <a:ext cx="30632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059936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GUI build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Flutter/Skia · CanvasKit web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4901184"/>
            <a:ext cx="3063240" cy="7680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992624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AR/VR &amp; 3D build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Godot engine bridge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913632" y="3520440"/>
            <a:ext cx="384048" cy="45720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7708392" y="3520440"/>
            <a:ext cx="384048" cy="457200"/>
          </a:xfrm>
          <a:prstGeom prst="rightArrow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3B475E"/>
                </a:solidFill>
                <a:latin typeface="Calibri"/>
              </a:rPr>
              <a:t>Every target runs the </a:t>
            </a:r>
            <a:r>
              <a:rPr sz="1350" b="1" i="0">
                <a:solidFill>
                  <a:srgbClr val="1D4ED8"/>
                </a:solidFill>
                <a:latin typeface="Calibri"/>
              </a:rPr>
              <a:t>same bytecode on the same VM</a:t>
            </a:r>
            <a:r>
              <a:rPr sz="1350" b="0" i="0">
                <a:solidFill>
                  <a:srgbClr val="3B475E"/>
                </a:solidFill>
                <a:latin typeface="Calibri"/>
              </a:rPr>
              <a:t> — only the host bridge behind askHost differs.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5 · ELPIAN 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Governance: execution remains provable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155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3B475E"/>
                </a:solidFill>
                <a:latin typeface="Calibri"/>
              </a:rPr>
              <a:t>Natural-language authoring raises an obvious concern — </a:t>
            </a:r>
            <a:r>
              <a:rPr sz="1500" b="0" i="1">
                <a:solidFill>
                  <a:srgbClr val="162133"/>
                </a:solidFill>
                <a:latin typeface="Calibri"/>
              </a:rPr>
              <a:t>what guarantees the produced program is safe?</a:t>
            </a:r>
            <a:r>
              <a:rPr sz="1500" b="0" i="0">
                <a:solidFill>
                  <a:srgbClr val="3B475E"/>
                </a:solidFill>
                <a:latin typeface="Calibri"/>
              </a:rPr>
              <a:t>  Victor answers at the execution layer, not the language layer: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82296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2951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Two-layer capability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79192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VM backstop: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 coarse families — Gpu, Network, Storage, Clock, Randomness — a disabled family short-circuits to a typed null.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1" i="0">
                <a:solidFill>
                  <a:srgbClr val="162133"/>
                </a:solidFill>
                <a:latin typeface="Calibri"/>
              </a:rPr>
              <a:t>Host layer: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 per-library capabilities that fail closed for unknown surfaces; sandboxed profiles deny I/O by default.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82296" cy="1783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29514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Resource metering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79192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Instruction, memory and call-depth limits; host-call counts and bytes-across-the-seam are bounded per module.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In multi-VM trees, budgets are enforced against aggregate subtree usage — a runaway module cannot starve its siblings.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82296" cy="178308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2611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Verified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45152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Bundles are SHA-256/HMAC signed, verified before load, with downgrade protection and content-hash-pinned manifests.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Behaviour updates are data — deployable live even where JIT is forbidden (iOS, web).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114800"/>
            <a:ext cx="5486400" cy="17830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114800"/>
            <a:ext cx="82296" cy="1783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426110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133"/>
                </a:solidFill>
                <a:latin typeface="Calibri"/>
              </a:rPr>
              <a:t>Deterministic semantics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645152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Free-form prose is normalised to a closed instruction set before execution — the VM never interprets natural language at runtime.</a:t>
            </a:r>
          </a:p>
          <a:p>
            <a:pPr algn="l">
              <a:lnSpc>
                <a:spcPct val="102000"/>
              </a:lnSpc>
              <a:spcAft>
                <a:spcPts val="500"/>
              </a:spcAft>
            </a:pPr>
            <a:r>
              <a:rPr sz="1250" b="0" i="0">
                <a:solidFill>
                  <a:srgbClr val="3B475E"/>
                </a:solidFill>
                <a:latin typeface="Calibri"/>
              </a:rPr>
              <a:t>The prompt layer is a compiler front-end; auditing the emitted AST/bytecode is always possible.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8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Implementation status in this repository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977639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709928"/>
            <a:ext cx="37398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79" y="1645920"/>
            <a:ext cx="539496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1" y="1709928"/>
            <a:ext cx="51572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21239" y="1645920"/>
            <a:ext cx="1874519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0111" y="1709928"/>
            <a:ext cx="163677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29968"/>
            <a:ext cx="397763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084832"/>
            <a:ext cx="373989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1" i="0">
                <a:solidFill>
                  <a:srgbClr val="162133"/>
                </a:solidFill>
                <a:latin typeface="Calibri"/>
              </a:rPr>
              <a:t>Elpian VM (elpian/elpian-vm)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79" y="2029968"/>
            <a:ext cx="5394960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1" y="2084832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AST/bytecode pausing interpreter; capability + resource governor; native &amp; wasm32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21239" y="2029968"/>
            <a:ext cx="187451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0111" y="2084832"/>
            <a:ext cx="163677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✅ built &amp; tested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15184"/>
            <a:ext cx="3977639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670048"/>
            <a:ext cx="373989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1" i="0">
                <a:solidFill>
                  <a:srgbClr val="162133"/>
                </a:solidFill>
                <a:latin typeface="Calibri"/>
              </a:rPr>
              <a:t>Language front-ends (js2elpian, dart2elpian)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26279" y="2615184"/>
            <a:ext cx="5394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2670048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JS and Dart-subset compilers to Elpian bytecode; universal stdlib names resolved at compile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39" y="2615184"/>
            <a:ext cx="1874519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0111" y="2670048"/>
            <a:ext cx="163677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✅ built &amp; tested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397763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3255264"/>
            <a:ext cx="373989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1" i="0">
                <a:solidFill>
                  <a:srgbClr val="162133"/>
                </a:solidFill>
                <a:latin typeface="Calibri"/>
              </a:rPr>
              <a:t>Dart runtime layer (elpian/dart)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79" y="3200400"/>
            <a:ext cx="5394960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1" y="3255264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dart:ui, typed_data, convert, isolates, async loop, widget layer, flutter.dart library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39" y="3200400"/>
            <a:ext cx="187451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0111" y="3255264"/>
            <a:ext cx="163677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✅ 190 tests 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785616"/>
            <a:ext cx="3977639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3840480"/>
            <a:ext cx="373989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1" i="0">
                <a:solidFill>
                  <a:srgbClr val="162133"/>
                </a:solidFill>
                <a:latin typeface="Calibri"/>
              </a:rPr>
              <a:t>Web renderer (elpian/web-demo)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79" y="3785616"/>
            <a:ext cx="5394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1" y="3840480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reflective CanvasKit/Skia bridge — 575 symbols audited, 0 unreachable; headless-browser verified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39" y="3785616"/>
            <a:ext cx="1874519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1" y="3840480"/>
            <a:ext cx="163677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✅ built &amp; verified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70832"/>
            <a:ext cx="397763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4425696"/>
            <a:ext cx="373989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1" i="0">
                <a:solidFill>
                  <a:srgbClr val="162133"/>
                </a:solidFill>
                <a:latin typeface="Calibri"/>
              </a:rPr>
              <a:t>Godot bridge (elpian/godot)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6279" y="4370832"/>
            <a:ext cx="5394960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1" y="4425696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reflective controller over ClassDB (~900 classes); multi-VM tree with sandboxing &amp; budgets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21239" y="4370832"/>
            <a:ext cx="187451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111" y="4425696"/>
            <a:ext cx="163677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✅ built &amp; verified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956048"/>
            <a:ext cx="3977639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" y="5010912"/>
            <a:ext cx="373989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1" i="0">
                <a:solidFill>
                  <a:srgbClr val="162133"/>
                </a:solidFill>
                <a:latin typeface="Calibri"/>
              </a:rPr>
              <a:t>Prompt → AST pipeline (pending-work/prompts)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79" y="4956048"/>
            <a:ext cx="53949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45151" y="5010912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classifier + 9 per-family extractor prompts emitting template AST JSON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921239" y="4956048"/>
            <a:ext cx="1874519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40111" y="5010912"/>
            <a:ext cx="163677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🔶 prototype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541264"/>
            <a:ext cx="397763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5596128"/>
            <a:ext cx="373989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1" i="0">
                <a:solidFill>
                  <a:srgbClr val="162133"/>
                </a:solidFill>
                <a:latin typeface="Calibri"/>
              </a:rPr>
              <a:t>Interface adaptation (views/actors per modality)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26279" y="5541264"/>
            <a:ext cx="5394960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45151" y="5596128"/>
            <a:ext cx="5157216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edge-module scanning and per-device materialisation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21239" y="5541264"/>
            <a:ext cx="1874519" cy="585216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0111" y="5596128"/>
            <a:ext cx="1636775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150" b="0" i="0">
                <a:solidFill>
                  <a:srgbClr val="3B475E"/>
                </a:solidFill>
                <a:latin typeface="Calibri"/>
              </a:rPr>
              <a:t>🔷 design stage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144768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3B475E"/>
                </a:solidFill>
                <a:latin typeface="Calibri"/>
              </a:rPr>
              <a:t>Honest scope: the substrate and bridges are real and test-covered; the prompt front-end and adaptation are the research edge.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9 ·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Case study — VICTOR: CITY STRIKE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3B475E"/>
                </a:solidFill>
                <a:latin typeface="Calibri"/>
              </a:rPr>
              <a:t>A complete third-person shooter written entirely in Dart and executed on the Elpian VM inside Godot 4 — evidence the substrate can carry </a:t>
            </a:r>
            <a:r>
              <a:rPr sz="1500" b="1" i="0">
                <a:solidFill>
                  <a:srgbClr val="1D4ED8"/>
                </a:solidFill>
                <a:latin typeface="Calibri"/>
              </a:rPr>
              <a:t>full interactive 3D applications</a:t>
            </a:r>
            <a:r>
              <a:rPr sz="1500" b="0" i="0">
                <a:solidFill>
                  <a:srgbClr val="3B475E"/>
                </a:solidFill>
                <a:latin typeface="Calibri"/>
              </a:rPr>
              <a:t>, the richest target modality Victor compiles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5778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Procedurally assembled city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from CC0 GLB asset kits.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Animated player character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with over-the-shoulder SpringArm camera.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Two hitscan weapons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with pooled tracers, impacts and damage numbers.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Three enemy archetypes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— chase / attack / line-of-sight AI, wave spawning, pickups.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Full HUD and menus, touch controls, synthesized embedded audio.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62133"/>
                </a:solidFill>
                <a:latin typeface="Calibri"/>
              </a:rPr>
              <a:t>Verified headless end-to-end</a:t>
            </a:r>
            <a:r>
              <a:rPr sz="1400" b="0" i="0">
                <a:solidFill>
                  <a:srgbClr val="3B475E"/>
                </a:solidFill>
                <a:latin typeface="Calibri"/>
              </a:rPr>
              <a:t> by the capi test suite (run_tps.rs).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240280"/>
            <a:ext cx="5166360" cy="3840480"/>
          </a:xfrm>
          <a:prstGeom prst="roundRect">
            <a:avLst>
              <a:gd name="adj" fmla="val 8000"/>
            </a:avLst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4231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93C5FD"/>
                </a:solidFill>
                <a:latin typeface="Calibri"/>
              </a:rPr>
              <a:t>Why it matters for Victor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34640"/>
            <a:ext cx="46634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100" b="1" i="0">
                <a:solidFill>
                  <a:srgbClr val="B45A09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The Godot bridge is reflective</a:t>
            </a:r>
            <a:r>
              <a:rPr sz="1300" b="0" i="0">
                <a:solidFill>
                  <a:srgbClr val="D8E2F0"/>
                </a:solidFill>
                <a:latin typeface="Calibri"/>
              </a:rPr>
              <a:t> — it addresses every engine class/method/property by name, so coverage is complete by construction.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100" b="1" i="0">
                <a:solidFill>
                  <a:srgbClr val="B45A09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The multi-VM tree</a:t>
            </a:r>
            <a:r>
              <a:rPr sz="1300" b="0" i="0">
                <a:solidFill>
                  <a:srgbClr val="D8E2F0"/>
                </a:solidFill>
                <a:latin typeface="Calibri"/>
              </a:rPr>
              <a:t> maps directly onto Victor modules: one sandboxed VM per module, with metered budgets and AND-composed permissions.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100" b="1" i="0">
                <a:solidFill>
                  <a:srgbClr val="B45A09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The same program shape</a:t>
            </a:r>
            <a:r>
              <a:rPr sz="1300" b="0" i="0">
                <a:solidFill>
                  <a:srgbClr val="D8E2F0"/>
                </a:solidFill>
                <a:latin typeface="Calibri"/>
              </a:rPr>
              <a:t> (bytecode + askHost) will render a dashboard on web, a HUD in 3D, or text in a terminal.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10 ·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Position among 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246888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600200"/>
            <a:ext cx="210312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1664208"/>
            <a:ext cx="188366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600200"/>
            <a:ext cx="356616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664208"/>
            <a:ext cx="33467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gives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600200"/>
            <a:ext cx="3108960" cy="384048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96528" y="1664208"/>
            <a:ext cx="288950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 Victor differs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984248"/>
            <a:ext cx="246888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057400"/>
            <a:ext cx="224942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1" i="0">
                <a:solidFill>
                  <a:srgbClr val="162133"/>
                </a:solidFill>
                <a:latin typeface="Calibri"/>
              </a:rPr>
              <a:t>Cross-platform UI frameworks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984248"/>
            <a:ext cx="210312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2057400"/>
            <a:ext cx="188366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Flutter, React Native, Compose 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1984248"/>
            <a:ext cx="356616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0368" y="2057400"/>
            <a:ext cx="33467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Share logic and widgets across screens, but stay within one modality (GUI) and one fixed-syntax language.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984248"/>
            <a:ext cx="310896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2057400"/>
            <a:ext cx="28895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1D4ED8"/>
                </a:solidFill>
                <a:latin typeface="Calibri"/>
              </a:rPr>
              <a:t>Victor shares behaviour across modalities; GUI is just one build type.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800"/>
            <a:ext cx="24688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044952"/>
            <a:ext cx="224942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1" i="0">
                <a:solidFill>
                  <a:srgbClr val="162133"/>
                </a:solidFill>
                <a:latin typeface="Calibri"/>
              </a:rPr>
              <a:t>LLM code assistants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2971800"/>
            <a:ext cx="2103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27248" y="3044952"/>
            <a:ext cx="188366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Copilot, Cursor, agentic coding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20640" y="2971800"/>
            <a:ext cx="35661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30368" y="3044952"/>
            <a:ext cx="33467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Generate conventional source code that developers then own, in a fixed-syntax language.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971800"/>
            <a:ext cx="31089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96528" y="3044952"/>
            <a:ext cx="28895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1D4ED8"/>
                </a:solidFill>
                <a:latin typeface="Calibri"/>
              </a:rPr>
              <a:t>In Victor the prompt is the source; generation targets a closed AST, not free-form code.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959352"/>
            <a:ext cx="246888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032504"/>
            <a:ext cx="224942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1" i="0">
                <a:solidFill>
                  <a:srgbClr val="162133"/>
                </a:solidFill>
                <a:latin typeface="Calibri"/>
              </a:rPr>
              <a:t>Model-driven engineering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959352"/>
            <a:ext cx="210312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27248" y="4032504"/>
            <a:ext cx="188366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UML/DSL-to-code generators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3959352"/>
            <a:ext cx="356616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4032504"/>
            <a:ext cx="33467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Abstract models compile to implementations, but models are rigid, diagram- or grammar-bound.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3959352"/>
            <a:ext cx="3108960" cy="987552"/>
          </a:xfrm>
          <a:prstGeom prst="rect">
            <a:avLst/>
          </a:prstGeom>
          <a:solidFill>
            <a:srgbClr val="EEF2F7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96528" y="4032504"/>
            <a:ext cx="28895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1D4ED8"/>
                </a:solidFill>
                <a:latin typeface="Calibri"/>
              </a:rPr>
              <a:t>Victor's 'model' is flexible natural language, normalised by classification.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946904"/>
            <a:ext cx="24688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5020056"/>
            <a:ext cx="224942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1" i="0">
                <a:solidFill>
                  <a:srgbClr val="162133"/>
                </a:solidFill>
                <a:latin typeface="Calibri"/>
              </a:rPr>
              <a:t>Intent-based / declarative UI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4946904"/>
            <a:ext cx="21031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27248" y="5020056"/>
            <a:ext cx="188366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SwiftUI, HTMX, voice-skill DSLs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20640" y="4946904"/>
            <a:ext cx="35661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0368" y="5020056"/>
            <a:ext cx="33467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Declare what the interface shows per platform toolkit.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0" y="4946904"/>
            <a:ext cx="310896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96528" y="5020056"/>
            <a:ext cx="2889504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100" b="0" i="0">
                <a:solidFill>
                  <a:srgbClr val="1D4ED8"/>
                </a:solidFill>
                <a:latin typeface="Calibri"/>
              </a:rPr>
              <a:t>Victor declares interface meaning (view/actor) independent of any toolkit.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12648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 i="0">
                <a:solidFill>
                  <a:srgbClr val="1D4ED8"/>
                </a:solidFill>
                <a:latin typeface="Calibri"/>
              </a:rPr>
              <a:t>Victor's claim: </a:t>
            </a:r>
            <a:r>
              <a:rPr sz="1350" b="0" i="0">
                <a:solidFill>
                  <a:srgbClr val="3B475E"/>
                </a:solidFill>
                <a:latin typeface="Calibri"/>
              </a:rPr>
              <a:t>behaviour, interface and platform are independent axes — only behaviour is authored by hand.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10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85032" cy="4572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3685032" cy="35661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2278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62133"/>
                </a:solidFill>
                <a:latin typeface="Calibri"/>
              </a:rPr>
              <a:t>Solidify the prompt front-end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227832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Harden the classifier + extractor prompts (pending-work/prompts) into a reproducible compiler stage with regression corpora.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Emit Elpian AST directly from populated templates; round-trip audits of prose → AST → prose.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91640"/>
            <a:ext cx="3685032" cy="4572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64792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286000"/>
            <a:ext cx="3685032" cy="35661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2278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62133"/>
                </a:solidFill>
                <a:latin typeface="Calibri"/>
              </a:rPr>
              <a:t>Interface adaptation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227832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1" i="0">
                <a:solidFill>
                  <a:srgbClr val="0F766E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Formalise the view/actor tree schema (XML/JSON) and the per-build device-capability descriptors.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1" i="0">
                <a:solidFill>
                  <a:srgbClr val="0F766E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Materialisers: terminal renderer, flutter.dart GUI, CanvasKit web, Godot 3D/AR — all through the existing askHost bridges.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685032" cy="457200"/>
          </a:xfrm>
          <a:prstGeom prst="roundRect">
            <a:avLst>
              <a:gd name="adj" fmla="val 8000"/>
            </a:avLst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764792"/>
            <a:ext cx="3685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286000"/>
            <a:ext cx="3685032" cy="35661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468880"/>
            <a:ext cx="32278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162133"/>
                </a:solidFill>
                <a:latin typeface="Calibri"/>
              </a:rPr>
              <a:t>Full multi-modal releases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063240"/>
            <a:ext cx="3227832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1" i="0">
                <a:solidFill>
                  <a:srgbClr val="B45A09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Voice and AR/VR materialisers; consumer detection for module-to-module JSON contracts.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1" i="0">
                <a:solidFill>
                  <a:srgbClr val="B45A09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3B475E"/>
                </a:solidFill>
                <a:latin typeface="Calibri"/>
              </a:rPr>
              <a:t>One-command builds: every declared build type → signed, governed, platform-specific executable.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08192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3B475E"/>
                </a:solidFill>
                <a:latin typeface="Calibri"/>
              </a:rPr>
              <a:t>Each stage lands as a tested vertical slice — the method that shipped Elpian phases 1–8.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D4ED8"/>
                </a:solidFill>
                <a:latin typeface="Calibr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62133"/>
                </a:solidFill>
                <a:latin typeface="Georgia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3B475E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3B475E"/>
                </a:solidFill>
                <a:latin typeface="Calibri"/>
              </a:rPr>
              <a:t>VICTOR — a prompt-defined, cross-interface application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11556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Programs as behaviour, not syntax. 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Victor programs are module prompts — flexible human language normalised into nine exact operation families, then compiled like any language.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Interfaces as meaning, not widgets. 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Two abstract element types — view and actor — describe every interface; per-build adaptation materialises them for terminals, voice, GUIs, AR/VR, 3D worlds, or peer modules.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Execution as a governed substrate. 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The Elpian VM makes the whole scheme deployable — no JIT, capability-governed, resource-metered, signature-verified — on iOS, web, desktop, mobile and game engines alike.</a:t>
            </a:r>
          </a:p>
          <a:p>
            <a:pPr algn="l">
              <a:lnSpc>
                <a:spcPct val="110000"/>
              </a:lnSpc>
              <a:spcAft>
                <a:spcPts val="1600"/>
              </a:spcAft>
            </a:pPr>
            <a:r>
              <a:rPr sz="1400" b="1" i="0">
                <a:solidFill>
                  <a:srgbClr val="1D4ED8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162133"/>
                </a:solidFill>
                <a:latin typeface="Calibri"/>
              </a:rPr>
              <a:t>The substrate is proven. </a:t>
            </a:r>
            <a:r>
              <a:rPr sz="1600" b="0" i="0">
                <a:solidFill>
                  <a:srgbClr val="3B475E"/>
                </a:solidFill>
                <a:latin typeface="Calibri"/>
              </a:rPr>
              <a:t>190 passing tests, a Flutter-style widget stack rasterised by real Skia, and a complete 3D shooter running on the VM inside Godot.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92040"/>
            <a:ext cx="11247120" cy="1234440"/>
          </a:xfrm>
          <a:prstGeom prst="roundRect">
            <a:avLst>
              <a:gd name="adj" fmla="val 8000"/>
            </a:avLst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38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Write what each module should do. Declare how it can be talked to. Pick an entrypoint.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93C5FD"/>
                </a:solidFill>
                <a:latin typeface="Calibri"/>
              </a:rPr>
              <a:t>Victor derives the rest — for every interface the user owns.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2011680" cy="44450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93C5FD"/>
                </a:solidFill>
                <a:latin typeface="Calibri"/>
              </a:rPr>
              <a:t>References &amp; artefacts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6070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Repository  —  </a:t>
            </a:r>
            <a:r>
              <a:rPr sz="1400" b="0" i="0">
                <a:solidFill>
                  <a:srgbClr val="D8E2F0"/>
                </a:solidFill>
                <a:latin typeface="Calibri"/>
              </a:rPr>
              <a:t>github.com/cosmopole-org/victor — this presentation: presentation/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Elpian VM &amp; Dart layer  —  </a:t>
            </a:r>
            <a:r>
              <a:rPr sz="1400" b="0" i="0">
                <a:solidFill>
                  <a:srgbClr val="D8E2F0"/>
                </a:solidFill>
                <a:latin typeface="Calibri"/>
              </a:rPr>
              <a:t>elpian/ — VM, dart2elpian, js2elpian, flutter.dart, 190-test suite (elpian/README.md)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Elpian VM upstream  —  </a:t>
            </a:r>
            <a:r>
              <a:rPr sz="1400" b="0" i="0">
                <a:solidFill>
                  <a:srgbClr val="D8E2F0"/>
                </a:solidFill>
                <a:latin typeface="Calibri"/>
              </a:rPr>
              <a:t>github.com/cosmopole-org/elpis (crates/elpian-vm)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Prompt → AST pipeline  —  </a:t>
            </a:r>
            <a:r>
              <a:rPr sz="1400" b="0" i="0">
                <a:solidFill>
                  <a:srgbClr val="D8E2F0"/>
                </a:solidFill>
                <a:latin typeface="Calibri"/>
              </a:rPr>
              <a:t>pending-work/prompts/ — classifier + nine operation-family extractor prompts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Web / Skia bridge  —  </a:t>
            </a:r>
            <a:r>
              <a:rPr sz="1400" b="0" i="0">
                <a:solidFill>
                  <a:srgbClr val="D8E2F0"/>
                </a:solidFill>
                <a:latin typeface="Calibri"/>
              </a:rPr>
              <a:t>elpian/web-demo/canvaskit_bridge.js — reflective CanvasKit driver (575 symbols audited)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Godot bridge &amp; case study  —  </a:t>
            </a:r>
            <a:r>
              <a:rPr sz="1400" b="0" i="0">
                <a:solidFill>
                  <a:srgbClr val="D8E2F0"/>
                </a:solidFill>
                <a:latin typeface="Calibri"/>
              </a:rPr>
              <a:t>elpian/godot/ — reflective ClassDB controller, multi-VM tree, VICTOR: CITY STRIKE (GAME_DESIGN.md)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D8E2F0"/>
                </a:solidFill>
                <a:latin typeface="Calibri"/>
              </a:rPr>
              <a:t>Cosmopole Research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